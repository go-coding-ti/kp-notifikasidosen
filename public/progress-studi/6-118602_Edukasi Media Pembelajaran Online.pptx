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Muli Bold" panose="020B0604020202020204" charset="0"/>
      <p:regular r:id="rId16"/>
    </p:embeddedFont>
    <p:embeddedFont>
      <p:font typeface="Muli Bold Bold" panose="020B0604020202020204" charset="0"/>
      <p:regular r:id="rId17"/>
    </p:embeddedFont>
    <p:embeddedFont>
      <p:font typeface="Muli Regular" panose="020B0604020202020204" charset="0"/>
      <p:regular r:id="rId18"/>
    </p:embeddedFont>
    <p:embeddedFont>
      <p:font typeface="Muli Regular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C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492"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2.svg"/><Relationship Id="rId10" Type="http://schemas.openxmlformats.org/officeDocument/2006/relationships/image" Target="../media/image25.jpeg"/><Relationship Id="rId4" Type="http://schemas.openxmlformats.org/officeDocument/2006/relationships/image" Target="../media/image21.png"/><Relationship Id="rId9" Type="http://schemas.openxmlformats.org/officeDocument/2006/relationships/image" Target="../media/image24.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grpSp>
        <p:nvGrpSpPr>
          <p:cNvPr id="2" name="Group 2"/>
          <p:cNvGrpSpPr/>
          <p:nvPr/>
        </p:nvGrpSpPr>
        <p:grpSpPr>
          <a:xfrm>
            <a:off x="8711372" y="1028700"/>
            <a:ext cx="6612721" cy="6612721"/>
            <a:chOff x="0" y="0"/>
            <a:chExt cx="6350000" cy="6350000"/>
          </a:xfrm>
        </p:grpSpPr>
        <p:sp>
          <p:nvSpPr>
            <p:cNvPr id="3" name="Freeform 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pic>
        <p:nvPicPr>
          <p:cNvPr id="4" name="Picture 4"/>
          <p:cNvPicPr>
            <a:picLocks noChangeAspect="1"/>
          </p:cNvPicPr>
          <p:nvPr/>
        </p:nvPicPr>
        <p:blipFill>
          <a:blip r:embed="rId2"/>
          <a:srcRect/>
          <a:stretch>
            <a:fillRect/>
          </a:stretch>
        </p:blipFill>
        <p:spPr>
          <a:xfrm>
            <a:off x="502509" y="392420"/>
            <a:ext cx="765693" cy="859070"/>
          </a:xfrm>
          <a:prstGeom prst="rect">
            <a:avLst/>
          </a:prstGeom>
        </p:spPr>
      </p:pic>
      <p:pic>
        <p:nvPicPr>
          <p:cNvPr id="5" name="Picture 5"/>
          <p:cNvPicPr>
            <a:picLocks noChangeAspect="1"/>
          </p:cNvPicPr>
          <p:nvPr/>
        </p:nvPicPr>
        <p:blipFill>
          <a:blip r:embed="rId3"/>
          <a:srcRect/>
          <a:stretch>
            <a:fillRect/>
          </a:stretch>
        </p:blipFill>
        <p:spPr>
          <a:xfrm>
            <a:off x="1096752" y="172820"/>
            <a:ext cx="1194223" cy="1194223"/>
          </a:xfrm>
          <a:prstGeom prst="rect">
            <a:avLst/>
          </a:prstGeom>
        </p:spPr>
      </p:pic>
      <p:pic>
        <p:nvPicPr>
          <p:cNvPr id="6" name="Picture 6"/>
          <p:cNvPicPr>
            <a:picLocks noChangeAspect="1"/>
          </p:cNvPicPr>
          <p:nvPr/>
        </p:nvPicPr>
        <p:blipFill>
          <a:blip r:embed="rId4"/>
          <a:srcRect/>
          <a:stretch>
            <a:fillRect/>
          </a:stretch>
        </p:blipFill>
        <p:spPr>
          <a:xfrm>
            <a:off x="3106481" y="328231"/>
            <a:ext cx="871818" cy="807985"/>
          </a:xfrm>
          <a:prstGeom prst="rect">
            <a:avLst/>
          </a:prstGeom>
        </p:spPr>
      </p:pic>
      <p:pic>
        <p:nvPicPr>
          <p:cNvPr id="7" name="Picture 7"/>
          <p:cNvPicPr>
            <a:picLocks noChangeAspect="1"/>
          </p:cNvPicPr>
          <p:nvPr/>
        </p:nvPicPr>
        <p:blipFill>
          <a:blip r:embed="rId5"/>
          <a:srcRect/>
          <a:stretch>
            <a:fillRect/>
          </a:stretch>
        </p:blipFill>
        <p:spPr>
          <a:xfrm>
            <a:off x="10085506" y="2746256"/>
            <a:ext cx="3864455" cy="3330009"/>
          </a:xfrm>
          <a:prstGeom prst="rect">
            <a:avLst/>
          </a:prstGeom>
        </p:spPr>
      </p:pic>
      <p:grpSp>
        <p:nvGrpSpPr>
          <p:cNvPr id="8" name="Group 8"/>
          <p:cNvGrpSpPr/>
          <p:nvPr/>
        </p:nvGrpSpPr>
        <p:grpSpPr>
          <a:xfrm>
            <a:off x="15505564" y="-1265891"/>
            <a:ext cx="4192245" cy="4192245"/>
            <a:chOff x="0" y="0"/>
            <a:chExt cx="6350000" cy="6350000"/>
          </a:xfrm>
        </p:grpSpPr>
        <p:sp>
          <p:nvSpPr>
            <p:cNvPr id="9"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grpSp>
        <p:nvGrpSpPr>
          <p:cNvPr id="10" name="Group 10"/>
          <p:cNvGrpSpPr/>
          <p:nvPr/>
        </p:nvGrpSpPr>
        <p:grpSpPr>
          <a:xfrm>
            <a:off x="16680853" y="4003488"/>
            <a:ext cx="3628408" cy="3628408"/>
            <a:chOff x="0" y="0"/>
            <a:chExt cx="6350000" cy="6350000"/>
          </a:xfrm>
        </p:grpSpPr>
        <p:sp>
          <p:nvSpPr>
            <p:cNvPr id="11" name="Freeform 11"/>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grpSp>
        <p:nvGrpSpPr>
          <p:cNvPr id="12" name="Group 12"/>
          <p:cNvGrpSpPr/>
          <p:nvPr/>
        </p:nvGrpSpPr>
        <p:grpSpPr>
          <a:xfrm>
            <a:off x="13168577" y="7469971"/>
            <a:ext cx="4253883" cy="4253883"/>
            <a:chOff x="0" y="0"/>
            <a:chExt cx="6350000" cy="6350000"/>
          </a:xfrm>
        </p:grpSpPr>
        <p:sp>
          <p:nvSpPr>
            <p:cNvPr id="13" name="Freeform 1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pic>
        <p:nvPicPr>
          <p:cNvPr id="14" name="Picture 14"/>
          <p:cNvPicPr>
            <a:picLocks noChangeAspect="1"/>
          </p:cNvPicPr>
          <p:nvPr/>
        </p:nvPicPr>
        <p:blipFill>
          <a:blip r:embed="rId5"/>
          <a:srcRect/>
          <a:stretch>
            <a:fillRect/>
          </a:stretch>
        </p:blipFill>
        <p:spPr>
          <a:xfrm>
            <a:off x="15505564" y="328231"/>
            <a:ext cx="2538090" cy="2187077"/>
          </a:xfrm>
          <a:prstGeom prst="rect">
            <a:avLst/>
          </a:prstGeom>
        </p:spPr>
      </p:pic>
      <p:pic>
        <p:nvPicPr>
          <p:cNvPr id="15" name="Picture 15"/>
          <p:cNvPicPr>
            <a:picLocks noChangeAspect="1"/>
          </p:cNvPicPr>
          <p:nvPr/>
        </p:nvPicPr>
        <p:blipFill>
          <a:blip r:embed="rId5"/>
          <a:srcRect/>
          <a:stretch>
            <a:fillRect/>
          </a:stretch>
        </p:blipFill>
        <p:spPr>
          <a:xfrm>
            <a:off x="15418495" y="8101515"/>
            <a:ext cx="2003965" cy="1726821"/>
          </a:xfrm>
          <a:prstGeom prst="rect">
            <a:avLst/>
          </a:prstGeom>
        </p:spPr>
      </p:pic>
      <p:pic>
        <p:nvPicPr>
          <p:cNvPr id="16" name="Picture 16"/>
          <p:cNvPicPr>
            <a:picLocks noChangeAspect="1"/>
          </p:cNvPicPr>
          <p:nvPr/>
        </p:nvPicPr>
        <p:blipFill>
          <a:blip r:embed="rId6"/>
          <a:srcRect/>
          <a:stretch>
            <a:fillRect/>
          </a:stretch>
        </p:blipFill>
        <p:spPr>
          <a:xfrm>
            <a:off x="15736961" y="3479563"/>
            <a:ext cx="2075296" cy="2842253"/>
          </a:xfrm>
          <a:prstGeom prst="rect">
            <a:avLst/>
          </a:prstGeom>
        </p:spPr>
      </p:pic>
      <p:sp>
        <p:nvSpPr>
          <p:cNvPr id="17" name="TextBox 17"/>
          <p:cNvSpPr txBox="1"/>
          <p:nvPr/>
        </p:nvSpPr>
        <p:spPr>
          <a:xfrm>
            <a:off x="502509" y="7962900"/>
            <a:ext cx="4732242" cy="971887"/>
          </a:xfrm>
          <a:prstGeom prst="rect">
            <a:avLst/>
          </a:prstGeom>
        </p:spPr>
        <p:txBody>
          <a:bodyPr lIns="0" tIns="0" rIns="0" bIns="0" rtlCol="0" anchor="t">
            <a:spAutoFit/>
          </a:bodyPr>
          <a:lstStyle/>
          <a:p>
            <a:pPr>
              <a:lnSpc>
                <a:spcPts val="2606"/>
              </a:lnSpc>
            </a:pPr>
            <a:r>
              <a:rPr lang="en-US" sz="1861" spc="167" dirty="0">
                <a:solidFill>
                  <a:srgbClr val="C5CCC9"/>
                </a:solidFill>
                <a:latin typeface="Muli Regular"/>
              </a:rPr>
              <a:t>KKN PPM UNIVERSITAS UDAYANA</a:t>
            </a:r>
          </a:p>
          <a:p>
            <a:pPr>
              <a:lnSpc>
                <a:spcPts val="2606"/>
              </a:lnSpc>
            </a:pPr>
            <a:r>
              <a:rPr lang="en-US" sz="1861" spc="167" dirty="0">
                <a:solidFill>
                  <a:srgbClr val="C5CCC9"/>
                </a:solidFill>
                <a:latin typeface="Muli Regular"/>
              </a:rPr>
              <a:t>PERIODE XXIII TAHUN 2021</a:t>
            </a:r>
          </a:p>
          <a:p>
            <a:pPr>
              <a:lnSpc>
                <a:spcPts val="2606"/>
              </a:lnSpc>
            </a:pPr>
            <a:r>
              <a:rPr lang="en-US" sz="1861" spc="167" dirty="0">
                <a:solidFill>
                  <a:srgbClr val="C5CCC9"/>
                </a:solidFill>
                <a:latin typeface="Muli Regular"/>
              </a:rPr>
              <a:t>DESA TAMANBALI, BANGLI</a:t>
            </a:r>
          </a:p>
        </p:txBody>
      </p:sp>
      <p:sp>
        <p:nvSpPr>
          <p:cNvPr id="18" name="TextBox 18"/>
          <p:cNvSpPr txBox="1"/>
          <p:nvPr/>
        </p:nvSpPr>
        <p:spPr>
          <a:xfrm>
            <a:off x="727499" y="2746256"/>
            <a:ext cx="7494967" cy="3886200"/>
          </a:xfrm>
          <a:prstGeom prst="rect">
            <a:avLst/>
          </a:prstGeom>
        </p:spPr>
        <p:txBody>
          <a:bodyPr lIns="0" tIns="0" rIns="0" bIns="0" rtlCol="0" anchor="t">
            <a:spAutoFit/>
          </a:bodyPr>
          <a:lstStyle/>
          <a:p>
            <a:pPr>
              <a:lnSpc>
                <a:spcPts val="10200"/>
              </a:lnSpc>
            </a:pPr>
            <a:r>
              <a:rPr lang="en-US" sz="8500" dirty="0" err="1">
                <a:solidFill>
                  <a:srgbClr val="FFF9F3"/>
                </a:solidFill>
                <a:latin typeface="Muli Bold"/>
              </a:rPr>
              <a:t>Edukasi</a:t>
            </a:r>
            <a:r>
              <a:rPr lang="en-US" sz="8500" dirty="0">
                <a:solidFill>
                  <a:srgbClr val="FFF9F3"/>
                </a:solidFill>
                <a:latin typeface="Muli Bold"/>
              </a:rPr>
              <a:t> Media </a:t>
            </a:r>
            <a:r>
              <a:rPr lang="en-US" sz="8500" dirty="0" err="1">
                <a:solidFill>
                  <a:srgbClr val="FFF9F3"/>
                </a:solidFill>
                <a:latin typeface="Muli Bold"/>
              </a:rPr>
              <a:t>Pembelajaran</a:t>
            </a:r>
            <a:r>
              <a:rPr lang="en-US" sz="8500" dirty="0">
                <a:solidFill>
                  <a:srgbClr val="FFF9F3"/>
                </a:solidFill>
                <a:latin typeface="Muli Bold"/>
              </a:rPr>
              <a:t> </a:t>
            </a:r>
            <a:r>
              <a:rPr lang="en-US" sz="8500" dirty="0">
                <a:solidFill>
                  <a:srgbClr val="F36825"/>
                </a:solidFill>
                <a:latin typeface="Muli Bold"/>
              </a:rPr>
              <a:t>Online</a:t>
            </a:r>
          </a:p>
        </p:txBody>
      </p:sp>
      <p:pic>
        <p:nvPicPr>
          <p:cNvPr id="19" name="Picture 19"/>
          <p:cNvPicPr>
            <a:picLocks noChangeAspect="1"/>
          </p:cNvPicPr>
          <p:nvPr/>
        </p:nvPicPr>
        <p:blipFill>
          <a:blip r:embed="rId6"/>
          <a:srcRect/>
          <a:stretch>
            <a:fillRect/>
          </a:stretch>
        </p:blipFill>
        <p:spPr>
          <a:xfrm>
            <a:off x="12894040" y="6749700"/>
            <a:ext cx="1723708" cy="2360730"/>
          </a:xfrm>
          <a:prstGeom prst="rect">
            <a:avLst/>
          </a:prstGeom>
        </p:spPr>
      </p:pic>
      <p:pic>
        <p:nvPicPr>
          <p:cNvPr id="20" name="Picture 20"/>
          <p:cNvPicPr>
            <a:picLocks noChangeAspect="1"/>
          </p:cNvPicPr>
          <p:nvPr/>
        </p:nvPicPr>
        <p:blipFill>
          <a:blip r:embed="rId6"/>
          <a:srcRect/>
          <a:stretch>
            <a:fillRect/>
          </a:stretch>
        </p:blipFill>
        <p:spPr>
          <a:xfrm>
            <a:off x="13568262" y="671265"/>
            <a:ext cx="1318625" cy="1805943"/>
          </a:xfrm>
          <a:prstGeom prst="rect">
            <a:avLst/>
          </a:prstGeom>
        </p:spPr>
      </p:pic>
      <p:pic>
        <p:nvPicPr>
          <p:cNvPr id="21" name="Picture 20">
            <a:extLst>
              <a:ext uri="{FF2B5EF4-FFF2-40B4-BE49-F238E27FC236}">
                <a16:creationId xmlns:a16="http://schemas.microsoft.com/office/drawing/2014/main" id="{637D80C0-6967-4DFE-9401-58F56733F1D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28004" y="392420"/>
            <a:ext cx="743796" cy="7437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390867" y="1028700"/>
            <a:ext cx="6451505" cy="8289988"/>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4405757" y="2495370"/>
            <a:ext cx="3724386" cy="3584721"/>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2798050">
            <a:off x="14343622" y="1781466"/>
            <a:ext cx="3602208" cy="3552678"/>
          </a:xfrm>
          <a:prstGeom prst="rect">
            <a:avLst/>
          </a:prstGeom>
        </p:spPr>
      </p:pic>
      <p:pic>
        <p:nvPicPr>
          <p:cNvPr id="5" name="Picture 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1471489">
            <a:off x="11647105" y="6461960"/>
            <a:ext cx="7315200" cy="3178787"/>
          </a:xfrm>
          <a:prstGeom prst="rect">
            <a:avLst/>
          </a:prstGeom>
        </p:spPr>
      </p:pic>
      <p:grpSp>
        <p:nvGrpSpPr>
          <p:cNvPr id="6" name="Group 6"/>
          <p:cNvGrpSpPr>
            <a:grpSpLocks noChangeAspect="1"/>
          </p:cNvGrpSpPr>
          <p:nvPr/>
        </p:nvGrpSpPr>
        <p:grpSpPr>
          <a:xfrm>
            <a:off x="10708766" y="2235646"/>
            <a:ext cx="5815707" cy="5815707"/>
            <a:chOff x="0" y="0"/>
            <a:chExt cx="6350000" cy="6350000"/>
          </a:xfrm>
        </p:grpSpPr>
        <p:sp>
          <p:nvSpPr>
            <p:cNvPr id="7" name="Freeform 7"/>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cubicBezTo>
                    <a:pt x="6350000" y="394970"/>
                    <a:pt x="6350000" y="394970"/>
                    <a:pt x="6350000" y="394970"/>
                  </a:cubicBezTo>
                  <a:lnTo>
                    <a:pt x="6350000" y="5956300"/>
                  </a:lnTo>
                  <a:cubicBezTo>
                    <a:pt x="6350000" y="6174740"/>
                    <a:pt x="6173470" y="6351270"/>
                    <a:pt x="5955030" y="6351270"/>
                  </a:cubicBezTo>
                  <a:lnTo>
                    <a:pt x="5955030" y="6351270"/>
                  </a:lnTo>
                  <a:lnTo>
                    <a:pt x="394970" y="6351270"/>
                  </a:lnTo>
                  <a:cubicBezTo>
                    <a:pt x="176530" y="6350000"/>
                    <a:pt x="0" y="6173470"/>
                    <a:pt x="0" y="5955030"/>
                  </a:cubicBezTo>
                  <a:cubicBezTo>
                    <a:pt x="0" y="5955030"/>
                    <a:pt x="0" y="5955030"/>
                    <a:pt x="0" y="5955030"/>
                  </a:cubicBezTo>
                  <a:close/>
                </a:path>
              </a:pathLst>
            </a:custGeom>
            <a:blipFill>
              <a:blip r:embed="rId10"/>
              <a:stretch>
                <a:fillRect t="-3492" b="-20269"/>
              </a:stretch>
            </a:blipFill>
          </p:spPr>
        </p:sp>
      </p:grpSp>
      <p:sp>
        <p:nvSpPr>
          <p:cNvPr id="8" name="TextBox 8"/>
          <p:cNvSpPr txBox="1"/>
          <p:nvPr/>
        </p:nvSpPr>
        <p:spPr>
          <a:xfrm>
            <a:off x="1028700" y="1028700"/>
            <a:ext cx="7641728" cy="1981200"/>
          </a:xfrm>
          <a:prstGeom prst="rect">
            <a:avLst/>
          </a:prstGeom>
        </p:spPr>
        <p:txBody>
          <a:bodyPr lIns="0" tIns="0" rIns="0" bIns="0" rtlCol="0" anchor="t">
            <a:spAutoFit/>
          </a:bodyPr>
          <a:lstStyle/>
          <a:p>
            <a:pPr>
              <a:lnSpc>
                <a:spcPts val="7800"/>
              </a:lnSpc>
            </a:pPr>
            <a:r>
              <a:rPr lang="en-US" sz="6500">
                <a:solidFill>
                  <a:srgbClr val="FFF9F3"/>
                </a:solidFill>
                <a:latin typeface="Muli Bold"/>
              </a:rPr>
              <a:t>Penggunaan </a:t>
            </a:r>
            <a:r>
              <a:rPr lang="en-US" sz="6500">
                <a:solidFill>
                  <a:srgbClr val="F36825"/>
                </a:solidFill>
                <a:latin typeface="Muli Bold"/>
              </a:rPr>
              <a:t>Google Formulir</a:t>
            </a:r>
          </a:p>
        </p:txBody>
      </p:sp>
      <p:sp>
        <p:nvSpPr>
          <p:cNvPr id="9" name="TextBox 9"/>
          <p:cNvSpPr txBox="1"/>
          <p:nvPr/>
        </p:nvSpPr>
        <p:spPr>
          <a:xfrm>
            <a:off x="609600" y="3594211"/>
            <a:ext cx="8987745" cy="4398705"/>
          </a:xfrm>
          <a:prstGeom prst="rect">
            <a:avLst/>
          </a:prstGeom>
        </p:spPr>
        <p:txBody>
          <a:bodyPr wrap="square" lIns="0" tIns="0" rIns="0" bIns="0" rtlCol="0" anchor="t">
            <a:spAutoFit/>
          </a:bodyPr>
          <a:lstStyle/>
          <a:p>
            <a:pPr>
              <a:lnSpc>
                <a:spcPts val="3512"/>
              </a:lnSpc>
            </a:pPr>
            <a:r>
              <a:rPr lang="en-US" sz="2508" spc="50" dirty="0">
                <a:solidFill>
                  <a:srgbClr val="FFF9F3"/>
                </a:solidFill>
                <a:latin typeface="Muli Regular"/>
              </a:rPr>
              <a:t>PEMBICARA:</a:t>
            </a:r>
          </a:p>
          <a:p>
            <a:pPr>
              <a:lnSpc>
                <a:spcPts val="3512"/>
              </a:lnSpc>
            </a:pPr>
            <a:endParaRPr lang="en-US" sz="2508" spc="50" dirty="0">
              <a:solidFill>
                <a:srgbClr val="FFF9F3"/>
              </a:solidFill>
              <a:latin typeface="Muli Regular"/>
            </a:endParaRPr>
          </a:p>
          <a:p>
            <a:pPr>
              <a:lnSpc>
                <a:spcPct val="200000"/>
              </a:lnSpc>
            </a:pPr>
            <a:r>
              <a:rPr lang="en-US" sz="2508" spc="50" dirty="0">
                <a:solidFill>
                  <a:srgbClr val="FFF9F3"/>
                </a:solidFill>
                <a:latin typeface="Muli Regular"/>
              </a:rPr>
              <a:t>NAMA				: REY BERNARD</a:t>
            </a:r>
          </a:p>
          <a:p>
            <a:pPr>
              <a:lnSpc>
                <a:spcPct val="200000"/>
              </a:lnSpc>
            </a:pPr>
            <a:r>
              <a:rPr lang="en-US" sz="2508" spc="50" dirty="0">
                <a:solidFill>
                  <a:srgbClr val="FFF9F3"/>
                </a:solidFill>
                <a:latin typeface="Muli Regular"/>
              </a:rPr>
              <a:t>TEMPAT/TANGGAL LAHIR	: TONDANO, 15/11/2000</a:t>
            </a:r>
          </a:p>
          <a:p>
            <a:pPr>
              <a:lnSpc>
                <a:spcPct val="200000"/>
              </a:lnSpc>
            </a:pPr>
            <a:r>
              <a:rPr lang="en-US" sz="2508" spc="50" dirty="0">
                <a:solidFill>
                  <a:srgbClr val="FFF9F3"/>
                </a:solidFill>
                <a:latin typeface="Muli Regular"/>
              </a:rPr>
              <a:t>FAKULTAS 				: TEKNIK</a:t>
            </a:r>
          </a:p>
          <a:p>
            <a:pPr>
              <a:lnSpc>
                <a:spcPct val="200000"/>
              </a:lnSpc>
            </a:pPr>
            <a:r>
              <a:rPr lang="en-US" sz="2508" spc="50" dirty="0">
                <a:solidFill>
                  <a:srgbClr val="FFF9F3"/>
                </a:solidFill>
                <a:latin typeface="Muli Regular"/>
              </a:rPr>
              <a:t>JURUSAN 				: TEKNOLOGI INFORMASI</a:t>
            </a:r>
          </a:p>
          <a:p>
            <a:pPr>
              <a:lnSpc>
                <a:spcPts val="3512"/>
              </a:lnSpc>
            </a:pPr>
            <a:endParaRPr lang="en-US" sz="2508" spc="50" dirty="0">
              <a:solidFill>
                <a:srgbClr val="FFF9F3"/>
              </a:solidFill>
              <a:latin typeface="Muli Regul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sp>
        <p:nvSpPr>
          <p:cNvPr id="6" name="TextBox 6"/>
          <p:cNvSpPr txBox="1"/>
          <p:nvPr/>
        </p:nvSpPr>
        <p:spPr>
          <a:xfrm>
            <a:off x="2373802" y="4339223"/>
            <a:ext cx="7277675" cy="2267581"/>
          </a:xfrm>
          <a:prstGeom prst="rect">
            <a:avLst/>
          </a:prstGeom>
        </p:spPr>
        <p:txBody>
          <a:bodyPr lIns="0" tIns="0" rIns="0" bIns="0" rtlCol="0" anchor="t">
            <a:spAutoFit/>
          </a:bodyPr>
          <a:lstStyle/>
          <a:p>
            <a:pPr>
              <a:lnSpc>
                <a:spcPts val="3640"/>
              </a:lnSpc>
            </a:pPr>
            <a:r>
              <a:rPr lang="en-US" sz="2600" spc="52">
                <a:solidFill>
                  <a:srgbClr val="FFF9F3"/>
                </a:solidFill>
                <a:latin typeface="Muli Regular"/>
              </a:rPr>
              <a:t>Google Formulir adalah perangkat lunak administrasi survei yang disertakan sebagai bagian dari rangkaian Penyunting Google Dokumen berbasis web gratis yang ditawarkan oleh Google.</a:t>
            </a:r>
          </a:p>
        </p:txBody>
      </p:sp>
      <p:sp>
        <p:nvSpPr>
          <p:cNvPr id="7" name="TextBox 7"/>
          <p:cNvSpPr txBox="1"/>
          <p:nvPr/>
        </p:nvSpPr>
        <p:spPr>
          <a:xfrm>
            <a:off x="2278552" y="3359024"/>
            <a:ext cx="5646485" cy="838200"/>
          </a:xfrm>
          <a:prstGeom prst="rect">
            <a:avLst/>
          </a:prstGeom>
        </p:spPr>
        <p:txBody>
          <a:bodyPr lIns="0" tIns="0" rIns="0" bIns="0" rtlCol="0" anchor="t">
            <a:spAutoFit/>
          </a:bodyPr>
          <a:lstStyle/>
          <a:p>
            <a:pPr>
              <a:lnSpc>
                <a:spcPts val="6599"/>
              </a:lnSpc>
            </a:pPr>
            <a:r>
              <a:rPr lang="en-US" sz="5499">
                <a:solidFill>
                  <a:srgbClr val="F36825"/>
                </a:solidFill>
                <a:latin typeface="Muli Bold Bold"/>
              </a:rPr>
              <a:t>Google Formulir</a:t>
            </a:r>
          </a:p>
        </p:txBody>
      </p:sp>
      <p:grpSp>
        <p:nvGrpSpPr>
          <p:cNvPr id="11" name="Group 10">
            <a:extLst>
              <a:ext uri="{FF2B5EF4-FFF2-40B4-BE49-F238E27FC236}">
                <a16:creationId xmlns:a16="http://schemas.microsoft.com/office/drawing/2014/main" id="{7CF76B99-F8D7-4E5A-B125-1813CAEC2460}"/>
              </a:ext>
            </a:extLst>
          </p:cNvPr>
          <p:cNvGrpSpPr/>
          <p:nvPr/>
        </p:nvGrpSpPr>
        <p:grpSpPr>
          <a:xfrm>
            <a:off x="10281814" y="1636589"/>
            <a:ext cx="6977486" cy="7013822"/>
            <a:chOff x="1028700" y="1654757"/>
            <a:chExt cx="6977486" cy="7013822"/>
          </a:xfrm>
        </p:grpSpPr>
        <p:pic>
          <p:nvPicPr>
            <p:cNvPr id="12" name="Picture 3">
              <a:extLst>
                <a:ext uri="{FF2B5EF4-FFF2-40B4-BE49-F238E27FC236}">
                  <a16:creationId xmlns:a16="http://schemas.microsoft.com/office/drawing/2014/main" id="{8F08157D-D34C-4FF1-9CD2-66675F9A56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973647" y="1845257"/>
              <a:ext cx="3927764" cy="4114800"/>
            </a:xfrm>
            <a:prstGeom prst="rect">
              <a:avLst/>
            </a:prstGeom>
          </p:spPr>
        </p:pic>
        <p:pic>
          <p:nvPicPr>
            <p:cNvPr id="13" name="Picture 4">
              <a:extLst>
                <a:ext uri="{FF2B5EF4-FFF2-40B4-BE49-F238E27FC236}">
                  <a16:creationId xmlns:a16="http://schemas.microsoft.com/office/drawing/2014/main" id="{F7642767-62A0-4E0C-BD40-F84CF1A9C5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239233">
              <a:off x="1771535" y="4647297"/>
              <a:ext cx="3927764" cy="4114800"/>
            </a:xfrm>
            <a:prstGeom prst="rect">
              <a:avLst/>
            </a:prstGeom>
          </p:spPr>
        </p:pic>
        <p:pic>
          <p:nvPicPr>
            <p:cNvPr id="14" name="Picture 5">
              <a:extLst>
                <a:ext uri="{FF2B5EF4-FFF2-40B4-BE49-F238E27FC236}">
                  <a16:creationId xmlns:a16="http://schemas.microsoft.com/office/drawing/2014/main" id="{8086AE20-2208-4BC7-88E7-6487E7CAC5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754466" y="4253102"/>
              <a:ext cx="3927764" cy="4114800"/>
            </a:xfrm>
            <a:prstGeom prst="rect">
              <a:avLst/>
            </a:prstGeom>
          </p:spPr>
        </p:pic>
        <p:grpSp>
          <p:nvGrpSpPr>
            <p:cNvPr id="15" name="Group 6">
              <a:extLst>
                <a:ext uri="{FF2B5EF4-FFF2-40B4-BE49-F238E27FC236}">
                  <a16:creationId xmlns:a16="http://schemas.microsoft.com/office/drawing/2014/main" id="{B605F8BC-0383-4820-8E87-3AB1B7601718}"/>
                </a:ext>
              </a:extLst>
            </p:cNvPr>
            <p:cNvGrpSpPr/>
            <p:nvPr/>
          </p:nvGrpSpPr>
          <p:grpSpPr>
            <a:xfrm>
              <a:off x="1028700" y="1654757"/>
              <a:ext cx="6977486" cy="6977486"/>
              <a:chOff x="0" y="0"/>
              <a:chExt cx="6350000" cy="6350000"/>
            </a:xfrm>
          </p:grpSpPr>
          <p:sp>
            <p:nvSpPr>
              <p:cNvPr id="16" name="Freeform 7">
                <a:extLst>
                  <a:ext uri="{FF2B5EF4-FFF2-40B4-BE49-F238E27FC236}">
                    <a16:creationId xmlns:a16="http://schemas.microsoft.com/office/drawing/2014/main" id="{B239DD90-CC82-481D-B270-77F8FF59DA34}"/>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9F3"/>
              </a:solidFill>
            </p:spPr>
          </p:sp>
        </p:grpSp>
      </p:grpSp>
      <p:pic>
        <p:nvPicPr>
          <p:cNvPr id="10" name="Picture 10"/>
          <p:cNvPicPr>
            <a:picLocks noChangeAspect="1"/>
          </p:cNvPicPr>
          <p:nvPr/>
        </p:nvPicPr>
        <p:blipFill>
          <a:blip r:embed="rId4"/>
          <a:srcRect/>
          <a:stretch>
            <a:fillRect/>
          </a:stretch>
        </p:blipFill>
        <p:spPr>
          <a:xfrm>
            <a:off x="12423222" y="3298236"/>
            <a:ext cx="2694671" cy="36905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598159" y="5400199"/>
            <a:ext cx="2229473" cy="4114800"/>
          </a:xfrm>
          <a:prstGeom prst="rect">
            <a:avLst/>
          </a:prstGeom>
        </p:spPr>
      </p:pic>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843591" y="6659047"/>
            <a:ext cx="2229473" cy="4114800"/>
          </a:xfrm>
          <a:prstGeom prst="rect">
            <a:avLst/>
          </a:prstGeom>
        </p:spPr>
      </p:pic>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7163587" y="3437558"/>
            <a:ext cx="2229473" cy="4114800"/>
          </a:xfrm>
          <a:prstGeom prst="rect">
            <a:avLst/>
          </a:prstGeom>
        </p:spPr>
      </p:pic>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598159" y="861378"/>
            <a:ext cx="2229473" cy="4114800"/>
          </a:xfrm>
          <a:prstGeom prst="rect">
            <a:avLst/>
          </a:prstGeom>
        </p:spPr>
      </p:pic>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144563" y="205789"/>
            <a:ext cx="2229473" cy="4114800"/>
          </a:xfrm>
          <a:prstGeom prst="rect">
            <a:avLst/>
          </a:prstGeom>
        </p:spPr>
      </p:pic>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843591" y="2243748"/>
            <a:ext cx="2229473" cy="4114800"/>
          </a:xfrm>
          <a:prstGeom prst="rect">
            <a:avLst/>
          </a:prstGeom>
        </p:spPr>
      </p:pic>
      <p:grpSp>
        <p:nvGrpSpPr>
          <p:cNvPr id="9" name="Group 9"/>
          <p:cNvGrpSpPr/>
          <p:nvPr/>
        </p:nvGrpSpPr>
        <p:grpSpPr>
          <a:xfrm>
            <a:off x="8577180" y="236488"/>
            <a:ext cx="9381148" cy="9814023"/>
            <a:chOff x="0" y="0"/>
            <a:chExt cx="7504918" cy="7851218"/>
          </a:xfrm>
        </p:grpSpPr>
        <p:sp>
          <p:nvSpPr>
            <p:cNvPr id="10" name="Freeform 10"/>
            <p:cNvSpPr/>
            <p:nvPr/>
          </p:nvSpPr>
          <p:spPr>
            <a:xfrm>
              <a:off x="0" y="0"/>
              <a:ext cx="7504919" cy="7851218"/>
            </a:xfrm>
            <a:custGeom>
              <a:avLst/>
              <a:gdLst/>
              <a:ahLst/>
              <a:cxnLst/>
              <a:rect l="l" t="t" r="r" b="b"/>
              <a:pathLst>
                <a:path w="7504919" h="7851218">
                  <a:moveTo>
                    <a:pt x="7380458" y="7851218"/>
                  </a:moveTo>
                  <a:lnTo>
                    <a:pt x="124460" y="7851218"/>
                  </a:lnTo>
                  <a:cubicBezTo>
                    <a:pt x="55880" y="7851218"/>
                    <a:pt x="0" y="7795338"/>
                    <a:pt x="0" y="7726759"/>
                  </a:cubicBezTo>
                  <a:lnTo>
                    <a:pt x="0" y="124460"/>
                  </a:lnTo>
                  <a:cubicBezTo>
                    <a:pt x="0" y="55880"/>
                    <a:pt x="55880" y="0"/>
                    <a:pt x="124460" y="0"/>
                  </a:cubicBezTo>
                  <a:lnTo>
                    <a:pt x="7380459" y="0"/>
                  </a:lnTo>
                  <a:cubicBezTo>
                    <a:pt x="7449038" y="0"/>
                    <a:pt x="7504919" y="55880"/>
                    <a:pt x="7504919" y="124460"/>
                  </a:cubicBezTo>
                  <a:lnTo>
                    <a:pt x="7504919" y="7726759"/>
                  </a:lnTo>
                  <a:cubicBezTo>
                    <a:pt x="7504919" y="7795339"/>
                    <a:pt x="7449038" y="7851218"/>
                    <a:pt x="7380459" y="7851218"/>
                  </a:cubicBezTo>
                  <a:close/>
                </a:path>
              </a:pathLst>
            </a:custGeom>
            <a:solidFill>
              <a:srgbClr val="FFF9F3"/>
            </a:solidFill>
          </p:spPr>
        </p:sp>
      </p:grpSp>
      <p:sp>
        <p:nvSpPr>
          <p:cNvPr id="11" name="AutoShape 11"/>
          <p:cNvSpPr/>
          <p:nvPr/>
        </p:nvSpPr>
        <p:spPr>
          <a:xfrm>
            <a:off x="9448690" y="3502953"/>
            <a:ext cx="7638127" cy="0"/>
          </a:xfrm>
          <a:prstGeom prst="line">
            <a:avLst/>
          </a:prstGeom>
          <a:ln w="76200" cap="rnd">
            <a:solidFill>
              <a:srgbClr val="414B3B"/>
            </a:solidFill>
            <a:prstDash val="solid"/>
            <a:headEnd type="none" w="sm" len="sm"/>
            <a:tailEnd type="none" w="sm" len="sm"/>
          </a:ln>
        </p:spPr>
      </p:sp>
      <p:sp>
        <p:nvSpPr>
          <p:cNvPr id="12" name="AutoShape 12"/>
          <p:cNvSpPr/>
          <p:nvPr/>
        </p:nvSpPr>
        <p:spPr>
          <a:xfrm>
            <a:off x="9448690" y="6707847"/>
            <a:ext cx="7638127" cy="0"/>
          </a:xfrm>
          <a:prstGeom prst="line">
            <a:avLst/>
          </a:prstGeom>
          <a:ln w="76200" cap="rnd">
            <a:solidFill>
              <a:srgbClr val="414B3B"/>
            </a:solidFill>
            <a:prstDash val="solid"/>
            <a:headEnd type="none" w="sm" len="sm"/>
            <a:tailEnd type="none" w="sm" len="sm"/>
          </a:ln>
        </p:spPr>
      </p:sp>
      <p:sp>
        <p:nvSpPr>
          <p:cNvPr id="13" name="TextBox 13"/>
          <p:cNvSpPr txBox="1"/>
          <p:nvPr/>
        </p:nvSpPr>
        <p:spPr>
          <a:xfrm>
            <a:off x="9448690" y="823278"/>
            <a:ext cx="7714897" cy="372745"/>
          </a:xfrm>
          <a:prstGeom prst="rect">
            <a:avLst/>
          </a:prstGeom>
        </p:spPr>
        <p:txBody>
          <a:bodyPr lIns="0" tIns="0" rIns="0" bIns="0" rtlCol="0" anchor="t">
            <a:spAutoFit/>
          </a:bodyPr>
          <a:lstStyle/>
          <a:p>
            <a:pPr>
              <a:lnSpc>
                <a:spcPts val="3079"/>
              </a:lnSpc>
            </a:pPr>
            <a:r>
              <a:rPr lang="en-US" sz="2200" spc="198">
                <a:solidFill>
                  <a:srgbClr val="414B3B"/>
                </a:solidFill>
                <a:latin typeface="Muli Regular Bold"/>
              </a:rPr>
              <a:t>MUDAH DIGUNAKAN</a:t>
            </a:r>
          </a:p>
        </p:txBody>
      </p:sp>
      <p:sp>
        <p:nvSpPr>
          <p:cNvPr id="14" name="TextBox 14"/>
          <p:cNvSpPr txBox="1"/>
          <p:nvPr/>
        </p:nvSpPr>
        <p:spPr>
          <a:xfrm>
            <a:off x="9448690" y="1388403"/>
            <a:ext cx="7714897" cy="1663065"/>
          </a:xfrm>
          <a:prstGeom prst="rect">
            <a:avLst/>
          </a:prstGeom>
        </p:spPr>
        <p:txBody>
          <a:bodyPr lIns="0" tIns="0" rIns="0" bIns="0" rtlCol="0" anchor="t">
            <a:spAutoFit/>
          </a:bodyPr>
          <a:lstStyle/>
          <a:p>
            <a:pPr>
              <a:lnSpc>
                <a:spcPts val="3359"/>
              </a:lnSpc>
            </a:pPr>
            <a:r>
              <a:rPr lang="en-US" sz="2400" spc="48">
                <a:solidFill>
                  <a:srgbClr val="414B3B"/>
                </a:solidFill>
                <a:latin typeface="Muli Regular"/>
              </a:rPr>
              <a:t>Program Google Formulir gampang untuk dipakai, di samping itu penampilan interface yang simpel, membuat pemakai bisa meningkatkan formulir lebih mudah dan cepat.</a:t>
            </a:r>
          </a:p>
        </p:txBody>
      </p:sp>
      <p:sp>
        <p:nvSpPr>
          <p:cNvPr id="15" name="TextBox 15"/>
          <p:cNvSpPr txBox="1"/>
          <p:nvPr/>
        </p:nvSpPr>
        <p:spPr>
          <a:xfrm>
            <a:off x="9448690" y="3947844"/>
            <a:ext cx="7714897" cy="372745"/>
          </a:xfrm>
          <a:prstGeom prst="rect">
            <a:avLst/>
          </a:prstGeom>
        </p:spPr>
        <p:txBody>
          <a:bodyPr lIns="0" tIns="0" rIns="0" bIns="0" rtlCol="0" anchor="t">
            <a:spAutoFit/>
          </a:bodyPr>
          <a:lstStyle/>
          <a:p>
            <a:pPr>
              <a:lnSpc>
                <a:spcPts val="3079"/>
              </a:lnSpc>
            </a:pPr>
            <a:r>
              <a:rPr lang="en-US" sz="2200" spc="198">
                <a:solidFill>
                  <a:srgbClr val="414B3B"/>
                </a:solidFill>
                <a:latin typeface="Muli Regular Bold"/>
              </a:rPr>
              <a:t>MUDAH UNTUK DIBAGIKAN</a:t>
            </a:r>
          </a:p>
        </p:txBody>
      </p:sp>
      <p:sp>
        <p:nvSpPr>
          <p:cNvPr id="16" name="TextBox 16"/>
          <p:cNvSpPr txBox="1"/>
          <p:nvPr/>
        </p:nvSpPr>
        <p:spPr>
          <a:xfrm>
            <a:off x="9448690" y="4544854"/>
            <a:ext cx="7714897" cy="1663065"/>
          </a:xfrm>
          <a:prstGeom prst="rect">
            <a:avLst/>
          </a:prstGeom>
        </p:spPr>
        <p:txBody>
          <a:bodyPr lIns="0" tIns="0" rIns="0" bIns="0" rtlCol="0" anchor="t">
            <a:spAutoFit/>
          </a:bodyPr>
          <a:lstStyle/>
          <a:p>
            <a:pPr>
              <a:lnSpc>
                <a:spcPts val="3359"/>
              </a:lnSpc>
            </a:pPr>
            <a:r>
              <a:rPr lang="en-US" sz="2400" spc="48">
                <a:solidFill>
                  <a:srgbClr val="414B3B"/>
                </a:solidFill>
                <a:latin typeface="Muli Regular"/>
              </a:rPr>
              <a:t>Program ini gampang untuk dibagikan ke informan, cukup hanya memencet tombol send atau kirim maka  link form anda bisa dibikin dan dibagi ke informan yang sudah anda tetapkan.</a:t>
            </a:r>
          </a:p>
        </p:txBody>
      </p:sp>
      <p:sp>
        <p:nvSpPr>
          <p:cNvPr id="17" name="TextBox 17"/>
          <p:cNvSpPr txBox="1"/>
          <p:nvPr/>
        </p:nvSpPr>
        <p:spPr>
          <a:xfrm>
            <a:off x="9448690" y="7151673"/>
            <a:ext cx="7714897" cy="763270"/>
          </a:xfrm>
          <a:prstGeom prst="rect">
            <a:avLst/>
          </a:prstGeom>
        </p:spPr>
        <p:txBody>
          <a:bodyPr lIns="0" tIns="0" rIns="0" bIns="0" rtlCol="0" anchor="t">
            <a:spAutoFit/>
          </a:bodyPr>
          <a:lstStyle/>
          <a:p>
            <a:pPr>
              <a:lnSpc>
                <a:spcPts val="3079"/>
              </a:lnSpc>
            </a:pPr>
            <a:r>
              <a:rPr lang="en-US" sz="2200" spc="198">
                <a:solidFill>
                  <a:srgbClr val="414B3B"/>
                </a:solidFill>
                <a:latin typeface="Muli Regular Bold"/>
              </a:rPr>
              <a:t>PENYAJIAN DATA RESPON KORESPONDEN YANG BERVARIASI</a:t>
            </a:r>
          </a:p>
        </p:txBody>
      </p:sp>
      <p:sp>
        <p:nvSpPr>
          <p:cNvPr id="18" name="TextBox 18"/>
          <p:cNvSpPr txBox="1"/>
          <p:nvPr/>
        </p:nvSpPr>
        <p:spPr>
          <a:xfrm>
            <a:off x="9448690" y="8147685"/>
            <a:ext cx="7714897" cy="1099423"/>
          </a:xfrm>
          <a:prstGeom prst="rect">
            <a:avLst/>
          </a:prstGeom>
        </p:spPr>
        <p:txBody>
          <a:bodyPr lIns="0" tIns="0" rIns="0" bIns="0" rtlCol="0" anchor="t">
            <a:spAutoFit/>
          </a:bodyPr>
          <a:lstStyle/>
          <a:p>
            <a:pPr>
              <a:lnSpc>
                <a:spcPts val="2926"/>
              </a:lnSpc>
            </a:pPr>
            <a:r>
              <a:rPr lang="en-US" sz="2090" spc="41">
                <a:solidFill>
                  <a:srgbClr val="414B3B"/>
                </a:solidFill>
                <a:latin typeface="Muli Regular"/>
              </a:rPr>
              <a:t>Seterusnya, penyuguhan data dari reporter bisa diperlihatkan dalam bermacam mode, seperti diagram, sampai pie yang diringkas dalam pola spreadsheet.</a:t>
            </a:r>
          </a:p>
        </p:txBody>
      </p:sp>
      <p:sp>
        <p:nvSpPr>
          <p:cNvPr id="19" name="TextBox 19"/>
          <p:cNvSpPr txBox="1"/>
          <p:nvPr/>
        </p:nvSpPr>
        <p:spPr>
          <a:xfrm>
            <a:off x="1028700" y="1940853"/>
            <a:ext cx="7178581" cy="3200400"/>
          </a:xfrm>
          <a:prstGeom prst="rect">
            <a:avLst/>
          </a:prstGeom>
        </p:spPr>
        <p:txBody>
          <a:bodyPr lIns="0" tIns="0" rIns="0" bIns="0" rtlCol="0" anchor="t">
            <a:spAutoFit/>
          </a:bodyPr>
          <a:lstStyle/>
          <a:p>
            <a:pPr>
              <a:lnSpc>
                <a:spcPts val="8400"/>
              </a:lnSpc>
            </a:pPr>
            <a:r>
              <a:rPr lang="en-US" sz="7000">
                <a:solidFill>
                  <a:srgbClr val="FFF9F3"/>
                </a:solidFill>
                <a:latin typeface="Muli Bold"/>
              </a:rPr>
              <a:t>Kelebihan dari menggunakan </a:t>
            </a:r>
            <a:r>
              <a:rPr lang="en-US" sz="7000">
                <a:solidFill>
                  <a:srgbClr val="F36825"/>
                </a:solidFill>
                <a:latin typeface="Muli Bold"/>
              </a:rPr>
              <a:t>Google Formulir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6117" b="6117"/>
          <a:stretch>
            <a:fillRect/>
          </a:stretch>
        </p:blipFill>
        <p:spPr>
          <a:xfrm>
            <a:off x="0" y="-3665291"/>
            <a:ext cx="18493219" cy="6041390"/>
          </a:xfrm>
          <a:prstGeom prst="rect">
            <a:avLst/>
          </a:prstGeom>
        </p:spPr>
      </p:pic>
      <p:sp>
        <p:nvSpPr>
          <p:cNvPr id="3" name="TextBox 3"/>
          <p:cNvSpPr txBox="1"/>
          <p:nvPr/>
        </p:nvSpPr>
        <p:spPr>
          <a:xfrm>
            <a:off x="6291041" y="4495800"/>
            <a:ext cx="5942704" cy="1295400"/>
          </a:xfrm>
          <a:prstGeom prst="rect">
            <a:avLst/>
          </a:prstGeom>
        </p:spPr>
        <p:txBody>
          <a:bodyPr lIns="0" tIns="0" rIns="0" bIns="0" rtlCol="0" anchor="t">
            <a:spAutoFit/>
          </a:bodyPr>
          <a:lstStyle/>
          <a:p>
            <a:pPr>
              <a:lnSpc>
                <a:spcPts val="10200"/>
              </a:lnSpc>
            </a:pPr>
            <a:r>
              <a:rPr lang="en-US" sz="8500">
                <a:solidFill>
                  <a:srgbClr val="FFF9F3"/>
                </a:solidFill>
                <a:latin typeface="Muli Bold"/>
              </a:rPr>
              <a:t>SESI DEMO</a:t>
            </a:r>
          </a:p>
        </p:txBody>
      </p:sp>
      <p:pic>
        <p:nvPicPr>
          <p:cNvPr id="4" name="Picture 4"/>
          <p:cNvPicPr>
            <a:picLocks noChangeAspect="1"/>
          </p:cNvPicPr>
          <p:nvPr/>
        </p:nvPicPr>
        <p:blipFill>
          <a:blip r:embed="rId2"/>
          <a:srcRect t="6117" b="6117"/>
          <a:stretch>
            <a:fillRect/>
          </a:stretch>
        </p:blipFill>
        <p:spPr>
          <a:xfrm>
            <a:off x="-102610" y="8548663"/>
            <a:ext cx="18493219" cy="60413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390867" y="1028700"/>
            <a:ext cx="6451505" cy="8289988"/>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3616620" y="5143500"/>
            <a:ext cx="4068508" cy="4114800"/>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4413821">
            <a:off x="13983087" y="5296047"/>
            <a:ext cx="3862821" cy="3809707"/>
          </a:xfrm>
          <a:prstGeom prst="rect">
            <a:avLst/>
          </a:prstGeom>
        </p:spPr>
      </p:pic>
      <p:pic>
        <p:nvPicPr>
          <p:cNvPr id="5" name="Picture 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897373">
            <a:off x="9570177" y="1105047"/>
            <a:ext cx="3862821" cy="3809707"/>
          </a:xfrm>
          <a:prstGeom prst="rect">
            <a:avLst/>
          </a:prstGeom>
        </p:spPr>
      </p:pic>
      <p:pic>
        <p:nvPicPr>
          <p:cNvPr id="6" name="Picture 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10390867" y="1233884"/>
            <a:ext cx="4275117" cy="4114800"/>
          </a:xfrm>
          <a:prstGeom prst="rect">
            <a:avLst/>
          </a:prstGeom>
        </p:spPr>
      </p:pic>
      <p:grpSp>
        <p:nvGrpSpPr>
          <p:cNvPr id="7" name="Group 7"/>
          <p:cNvGrpSpPr>
            <a:grpSpLocks noChangeAspect="1"/>
          </p:cNvGrpSpPr>
          <p:nvPr/>
        </p:nvGrpSpPr>
        <p:grpSpPr>
          <a:xfrm>
            <a:off x="10708766" y="2235646"/>
            <a:ext cx="5815707" cy="5815707"/>
            <a:chOff x="0" y="0"/>
            <a:chExt cx="6350000" cy="6350000"/>
          </a:xfrm>
        </p:grpSpPr>
        <p:sp>
          <p:nvSpPr>
            <p:cNvPr id="8" name="Freeform 8"/>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cubicBezTo>
                    <a:pt x="6350000" y="394970"/>
                    <a:pt x="6350000" y="394970"/>
                    <a:pt x="6350000" y="394970"/>
                  </a:cubicBezTo>
                  <a:lnTo>
                    <a:pt x="6350000" y="5956300"/>
                  </a:lnTo>
                  <a:cubicBezTo>
                    <a:pt x="6350000" y="6174740"/>
                    <a:pt x="6173470" y="6351270"/>
                    <a:pt x="5955030" y="6351270"/>
                  </a:cubicBezTo>
                  <a:lnTo>
                    <a:pt x="5955030" y="6351270"/>
                  </a:lnTo>
                  <a:lnTo>
                    <a:pt x="394970" y="6351270"/>
                  </a:lnTo>
                  <a:cubicBezTo>
                    <a:pt x="176530" y="6350000"/>
                    <a:pt x="0" y="6173470"/>
                    <a:pt x="0" y="5955030"/>
                  </a:cubicBezTo>
                  <a:cubicBezTo>
                    <a:pt x="0" y="5955030"/>
                    <a:pt x="0" y="5955030"/>
                    <a:pt x="0" y="5955030"/>
                  </a:cubicBezTo>
                  <a:close/>
                </a:path>
              </a:pathLst>
            </a:custGeom>
            <a:blipFill>
              <a:blip r:embed="rId10"/>
              <a:stretch>
                <a:fillRect t="-54274" b="-23503"/>
              </a:stretch>
            </a:blipFill>
          </p:spPr>
        </p:sp>
      </p:grpSp>
      <p:sp>
        <p:nvSpPr>
          <p:cNvPr id="9" name="TextBox 9"/>
          <p:cNvSpPr txBox="1"/>
          <p:nvPr/>
        </p:nvSpPr>
        <p:spPr>
          <a:xfrm>
            <a:off x="1028700" y="1028700"/>
            <a:ext cx="7641728" cy="1981200"/>
          </a:xfrm>
          <a:prstGeom prst="rect">
            <a:avLst/>
          </a:prstGeom>
        </p:spPr>
        <p:txBody>
          <a:bodyPr lIns="0" tIns="0" rIns="0" bIns="0" rtlCol="0" anchor="t">
            <a:spAutoFit/>
          </a:bodyPr>
          <a:lstStyle/>
          <a:p>
            <a:pPr>
              <a:lnSpc>
                <a:spcPts val="7800"/>
              </a:lnSpc>
            </a:pPr>
            <a:r>
              <a:rPr lang="en-US" sz="6500">
                <a:solidFill>
                  <a:srgbClr val="FFF9F3"/>
                </a:solidFill>
                <a:latin typeface="Muli Bold"/>
              </a:rPr>
              <a:t>Penggunaan </a:t>
            </a:r>
            <a:r>
              <a:rPr lang="en-US" sz="6500">
                <a:solidFill>
                  <a:srgbClr val="F36825"/>
                </a:solidFill>
                <a:latin typeface="Muli Bold"/>
              </a:rPr>
              <a:t>Google Classroom</a:t>
            </a:r>
          </a:p>
        </p:txBody>
      </p:sp>
      <p:sp>
        <p:nvSpPr>
          <p:cNvPr id="11" name="TextBox 9">
            <a:extLst>
              <a:ext uri="{FF2B5EF4-FFF2-40B4-BE49-F238E27FC236}">
                <a16:creationId xmlns:a16="http://schemas.microsoft.com/office/drawing/2014/main" id="{39F65397-87AE-48C4-BBF2-0D97B89F69D6}"/>
              </a:ext>
            </a:extLst>
          </p:cNvPr>
          <p:cNvSpPr txBox="1"/>
          <p:nvPr/>
        </p:nvSpPr>
        <p:spPr>
          <a:xfrm>
            <a:off x="609600" y="3594211"/>
            <a:ext cx="8987745" cy="4398705"/>
          </a:xfrm>
          <a:prstGeom prst="rect">
            <a:avLst/>
          </a:prstGeom>
        </p:spPr>
        <p:txBody>
          <a:bodyPr wrap="square" lIns="0" tIns="0" rIns="0" bIns="0" rtlCol="0" anchor="t">
            <a:spAutoFit/>
          </a:bodyPr>
          <a:lstStyle/>
          <a:p>
            <a:pPr>
              <a:lnSpc>
                <a:spcPts val="3512"/>
              </a:lnSpc>
            </a:pPr>
            <a:r>
              <a:rPr lang="en-US" sz="2508" spc="50" dirty="0">
                <a:solidFill>
                  <a:srgbClr val="FFF9F3"/>
                </a:solidFill>
                <a:latin typeface="Muli Regular"/>
              </a:rPr>
              <a:t>PEMBICARA:</a:t>
            </a:r>
          </a:p>
          <a:p>
            <a:pPr>
              <a:lnSpc>
                <a:spcPts val="3512"/>
              </a:lnSpc>
            </a:pPr>
            <a:endParaRPr lang="en-US" sz="2508" spc="50" dirty="0">
              <a:solidFill>
                <a:srgbClr val="FFF9F3"/>
              </a:solidFill>
              <a:latin typeface="Muli Regular"/>
            </a:endParaRPr>
          </a:p>
          <a:p>
            <a:pPr>
              <a:lnSpc>
                <a:spcPct val="200000"/>
              </a:lnSpc>
            </a:pPr>
            <a:r>
              <a:rPr lang="en-US" sz="2508" spc="50" dirty="0">
                <a:solidFill>
                  <a:srgbClr val="FFF9F3"/>
                </a:solidFill>
                <a:latin typeface="Muli Regular"/>
              </a:rPr>
              <a:t>NAMA				: NOVIANTI DEWI</a:t>
            </a:r>
          </a:p>
          <a:p>
            <a:pPr>
              <a:lnSpc>
                <a:spcPct val="200000"/>
              </a:lnSpc>
            </a:pPr>
            <a:r>
              <a:rPr lang="en-US" sz="2508" spc="50" dirty="0">
                <a:solidFill>
                  <a:srgbClr val="FFF9F3"/>
                </a:solidFill>
                <a:latin typeface="Muli Regular"/>
              </a:rPr>
              <a:t>TEMPAT/TANGGAL LAHIR	: DENPASAR, 15/2/2000</a:t>
            </a:r>
          </a:p>
          <a:p>
            <a:pPr>
              <a:lnSpc>
                <a:spcPct val="200000"/>
              </a:lnSpc>
            </a:pPr>
            <a:r>
              <a:rPr lang="en-US" sz="2508" spc="50" dirty="0">
                <a:solidFill>
                  <a:srgbClr val="FFF9F3"/>
                </a:solidFill>
                <a:latin typeface="Muli Regular"/>
              </a:rPr>
              <a:t>FAKULTAS 				: ILMU BUDAYA</a:t>
            </a:r>
          </a:p>
          <a:p>
            <a:pPr>
              <a:lnSpc>
                <a:spcPct val="200000"/>
              </a:lnSpc>
            </a:pPr>
            <a:r>
              <a:rPr lang="en-US" sz="2508" spc="50" dirty="0">
                <a:solidFill>
                  <a:srgbClr val="FFF9F3"/>
                </a:solidFill>
                <a:latin typeface="Muli Regular"/>
              </a:rPr>
              <a:t>JURUSAN 				: SASTRA INGGRIS</a:t>
            </a:r>
          </a:p>
          <a:p>
            <a:pPr>
              <a:lnSpc>
                <a:spcPts val="3512"/>
              </a:lnSpc>
            </a:pPr>
            <a:endParaRPr lang="en-US" sz="2508" spc="50" dirty="0">
              <a:solidFill>
                <a:srgbClr val="FFF9F3"/>
              </a:solidFill>
              <a:latin typeface="Muli Regul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57747BB-5B55-4A61-825D-A06D3710A4F9}"/>
              </a:ext>
            </a:extLst>
          </p:cNvPr>
          <p:cNvGrpSpPr/>
          <p:nvPr/>
        </p:nvGrpSpPr>
        <p:grpSpPr>
          <a:xfrm>
            <a:off x="1028700" y="1654757"/>
            <a:ext cx="6977486" cy="7013822"/>
            <a:chOff x="1028700" y="1654757"/>
            <a:chExt cx="6977486" cy="7013822"/>
          </a:xfrm>
        </p:grpSpPr>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973647" y="1845257"/>
              <a:ext cx="3927764" cy="4114800"/>
            </a:xfrm>
            <a:prstGeom prst="rect">
              <a:avLst/>
            </a:prstGeom>
          </p:spPr>
        </p:pic>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239233">
              <a:off x="1771535" y="4647297"/>
              <a:ext cx="3927764" cy="4114800"/>
            </a:xfrm>
            <a:prstGeom prst="rect">
              <a:avLst/>
            </a:prstGeom>
          </p:spPr>
        </p:pic>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754466" y="4253102"/>
              <a:ext cx="3927764" cy="4114800"/>
            </a:xfrm>
            <a:prstGeom prst="rect">
              <a:avLst/>
            </a:prstGeom>
          </p:spPr>
        </p:pic>
        <p:grpSp>
          <p:nvGrpSpPr>
            <p:cNvPr id="6" name="Group 6"/>
            <p:cNvGrpSpPr/>
            <p:nvPr/>
          </p:nvGrpSpPr>
          <p:grpSpPr>
            <a:xfrm>
              <a:off x="1028700" y="1654757"/>
              <a:ext cx="6977486" cy="6977486"/>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9F3"/>
              </a:solidFill>
            </p:spPr>
          </p:sp>
        </p:grpSp>
      </p:grpSp>
      <p:pic>
        <p:nvPicPr>
          <p:cNvPr id="8" name="Picture 8"/>
          <p:cNvPicPr>
            <a:picLocks noChangeAspect="1"/>
          </p:cNvPicPr>
          <p:nvPr/>
        </p:nvPicPr>
        <p:blipFill>
          <a:blip r:embed="rId4"/>
          <a:srcRect/>
          <a:stretch>
            <a:fillRect/>
          </a:stretch>
        </p:blipFill>
        <p:spPr>
          <a:xfrm>
            <a:off x="2611717" y="3477520"/>
            <a:ext cx="3811450" cy="3284334"/>
          </a:xfrm>
          <a:prstGeom prst="rect">
            <a:avLst/>
          </a:prstGeom>
        </p:spPr>
      </p:pic>
      <p:sp>
        <p:nvSpPr>
          <p:cNvPr id="9" name="TextBox 9"/>
          <p:cNvSpPr txBox="1"/>
          <p:nvPr/>
        </p:nvSpPr>
        <p:spPr>
          <a:xfrm>
            <a:off x="9676066" y="3156061"/>
            <a:ext cx="7277675" cy="3927253"/>
          </a:xfrm>
          <a:prstGeom prst="rect">
            <a:avLst/>
          </a:prstGeom>
        </p:spPr>
        <p:txBody>
          <a:bodyPr lIns="0" tIns="0" rIns="0" bIns="0" rtlCol="0" anchor="t">
            <a:spAutoFit/>
          </a:bodyPr>
          <a:lstStyle/>
          <a:p>
            <a:pPr>
              <a:lnSpc>
                <a:spcPts val="3512"/>
              </a:lnSpc>
            </a:pPr>
            <a:r>
              <a:rPr lang="en-US" sz="2508" spc="50">
                <a:solidFill>
                  <a:srgbClr val="FFF9F3"/>
                </a:solidFill>
                <a:latin typeface="Muli Regular"/>
              </a:rPr>
              <a:t>Google Kelas atau dalam bahasa Inggrisnya Google Classroom adalah layanan web gratis, yang dikembangkan oleh Google untuk sekolah, yang bertujuan untuk menyederhanakan membuat, mendistribusikan, dan menilai tugas tanpa harus bertatap muka. Tujuan utama Google Classroom adalah untuk merampingkan proses berbagi file antara guru dan siswa.</a:t>
            </a:r>
          </a:p>
        </p:txBody>
      </p:sp>
      <p:sp>
        <p:nvSpPr>
          <p:cNvPr id="10" name="TextBox 10"/>
          <p:cNvSpPr txBox="1"/>
          <p:nvPr/>
        </p:nvSpPr>
        <p:spPr>
          <a:xfrm>
            <a:off x="9571291" y="2170101"/>
            <a:ext cx="6277913" cy="838200"/>
          </a:xfrm>
          <a:prstGeom prst="rect">
            <a:avLst/>
          </a:prstGeom>
        </p:spPr>
        <p:txBody>
          <a:bodyPr lIns="0" tIns="0" rIns="0" bIns="0" rtlCol="0" anchor="t">
            <a:spAutoFit/>
          </a:bodyPr>
          <a:lstStyle/>
          <a:p>
            <a:pPr>
              <a:lnSpc>
                <a:spcPts val="6599"/>
              </a:lnSpc>
            </a:pPr>
            <a:r>
              <a:rPr lang="en-US" sz="5499">
                <a:solidFill>
                  <a:srgbClr val="F36825"/>
                </a:solidFill>
                <a:latin typeface="Muli Bold Bold"/>
              </a:rPr>
              <a:t>Google Classroom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2225915" y="4888332"/>
            <a:ext cx="7315200" cy="3178787"/>
          </a:xfrm>
          <a:prstGeom prst="rect">
            <a:avLst/>
          </a:prstGeom>
        </p:spPr>
      </p:pic>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flipV="1">
            <a:off x="6443392" y="6079090"/>
            <a:ext cx="7315200" cy="3178787"/>
          </a:xfrm>
          <a:prstGeom prst="rect">
            <a:avLst/>
          </a:prstGeom>
        </p:spPr>
      </p:pic>
      <p:grpSp>
        <p:nvGrpSpPr>
          <p:cNvPr id="4" name="Group 4"/>
          <p:cNvGrpSpPr/>
          <p:nvPr/>
        </p:nvGrpSpPr>
        <p:grpSpPr>
          <a:xfrm>
            <a:off x="1028700" y="4379723"/>
            <a:ext cx="5033385" cy="4878577"/>
            <a:chOff x="0" y="0"/>
            <a:chExt cx="4026708" cy="3902862"/>
          </a:xfrm>
        </p:grpSpPr>
        <p:sp>
          <p:nvSpPr>
            <p:cNvPr id="5" name="Freeform 5"/>
            <p:cNvSpPr/>
            <p:nvPr/>
          </p:nvSpPr>
          <p:spPr>
            <a:xfrm>
              <a:off x="0" y="0"/>
              <a:ext cx="4026708" cy="3902862"/>
            </a:xfrm>
            <a:custGeom>
              <a:avLst/>
              <a:gdLst/>
              <a:ahLst/>
              <a:cxnLst/>
              <a:rect l="l" t="t" r="r" b="b"/>
              <a:pathLst>
                <a:path w="4026708" h="3902862">
                  <a:moveTo>
                    <a:pt x="3902248" y="3902862"/>
                  </a:moveTo>
                  <a:lnTo>
                    <a:pt x="124460" y="3902862"/>
                  </a:lnTo>
                  <a:cubicBezTo>
                    <a:pt x="55880" y="3902862"/>
                    <a:pt x="0" y="3846982"/>
                    <a:pt x="0" y="3778402"/>
                  </a:cubicBezTo>
                  <a:lnTo>
                    <a:pt x="0" y="124460"/>
                  </a:lnTo>
                  <a:cubicBezTo>
                    <a:pt x="0" y="55880"/>
                    <a:pt x="55880" y="0"/>
                    <a:pt x="124460" y="0"/>
                  </a:cubicBezTo>
                  <a:lnTo>
                    <a:pt x="3902248" y="0"/>
                  </a:lnTo>
                  <a:cubicBezTo>
                    <a:pt x="3970828" y="0"/>
                    <a:pt x="4026708" y="55880"/>
                    <a:pt x="4026708" y="124460"/>
                  </a:cubicBezTo>
                  <a:lnTo>
                    <a:pt x="4026708" y="3778402"/>
                  </a:lnTo>
                  <a:cubicBezTo>
                    <a:pt x="4026708" y="3846982"/>
                    <a:pt x="3970828" y="3902862"/>
                    <a:pt x="3902248" y="3902862"/>
                  </a:cubicBezTo>
                  <a:close/>
                </a:path>
              </a:pathLst>
            </a:custGeom>
            <a:solidFill>
              <a:srgbClr val="FFFFFF"/>
            </a:solidFill>
          </p:spPr>
        </p:sp>
      </p:grpSp>
      <p:grpSp>
        <p:nvGrpSpPr>
          <p:cNvPr id="6" name="Group 6"/>
          <p:cNvGrpSpPr/>
          <p:nvPr/>
        </p:nvGrpSpPr>
        <p:grpSpPr>
          <a:xfrm>
            <a:off x="6627308" y="4379723"/>
            <a:ext cx="5033385" cy="4878154"/>
            <a:chOff x="0" y="0"/>
            <a:chExt cx="4026708" cy="3902523"/>
          </a:xfrm>
        </p:grpSpPr>
        <p:sp>
          <p:nvSpPr>
            <p:cNvPr id="7" name="Freeform 7"/>
            <p:cNvSpPr/>
            <p:nvPr/>
          </p:nvSpPr>
          <p:spPr>
            <a:xfrm>
              <a:off x="0" y="0"/>
              <a:ext cx="4026708" cy="3902523"/>
            </a:xfrm>
            <a:custGeom>
              <a:avLst/>
              <a:gdLst/>
              <a:ahLst/>
              <a:cxnLst/>
              <a:rect l="l" t="t" r="r" b="b"/>
              <a:pathLst>
                <a:path w="4026708" h="3902523">
                  <a:moveTo>
                    <a:pt x="3902248" y="3902523"/>
                  </a:moveTo>
                  <a:lnTo>
                    <a:pt x="124460" y="3902523"/>
                  </a:lnTo>
                  <a:cubicBezTo>
                    <a:pt x="55880" y="3902523"/>
                    <a:pt x="0" y="3846643"/>
                    <a:pt x="0" y="3778063"/>
                  </a:cubicBezTo>
                  <a:lnTo>
                    <a:pt x="0" y="124460"/>
                  </a:lnTo>
                  <a:cubicBezTo>
                    <a:pt x="0" y="55880"/>
                    <a:pt x="55880" y="0"/>
                    <a:pt x="124460" y="0"/>
                  </a:cubicBezTo>
                  <a:lnTo>
                    <a:pt x="3902248" y="0"/>
                  </a:lnTo>
                  <a:cubicBezTo>
                    <a:pt x="3970828" y="0"/>
                    <a:pt x="4026708" y="55880"/>
                    <a:pt x="4026708" y="124460"/>
                  </a:cubicBezTo>
                  <a:lnTo>
                    <a:pt x="4026708" y="3778064"/>
                  </a:lnTo>
                  <a:cubicBezTo>
                    <a:pt x="4026708" y="3846643"/>
                    <a:pt x="3970828" y="3902523"/>
                    <a:pt x="3902248" y="3902523"/>
                  </a:cubicBezTo>
                  <a:close/>
                </a:path>
              </a:pathLst>
            </a:custGeom>
            <a:solidFill>
              <a:srgbClr val="FFFFFF"/>
            </a:solidFill>
          </p:spPr>
        </p:sp>
      </p:grpSp>
      <p:grpSp>
        <p:nvGrpSpPr>
          <p:cNvPr id="8" name="Group 8"/>
          <p:cNvGrpSpPr/>
          <p:nvPr/>
        </p:nvGrpSpPr>
        <p:grpSpPr>
          <a:xfrm>
            <a:off x="12225915" y="4379723"/>
            <a:ext cx="5033385" cy="4878154"/>
            <a:chOff x="0" y="0"/>
            <a:chExt cx="4026708" cy="3902523"/>
          </a:xfrm>
        </p:grpSpPr>
        <p:sp>
          <p:nvSpPr>
            <p:cNvPr id="9" name="Freeform 9"/>
            <p:cNvSpPr/>
            <p:nvPr/>
          </p:nvSpPr>
          <p:spPr>
            <a:xfrm>
              <a:off x="0" y="0"/>
              <a:ext cx="4026708" cy="3902523"/>
            </a:xfrm>
            <a:custGeom>
              <a:avLst/>
              <a:gdLst/>
              <a:ahLst/>
              <a:cxnLst/>
              <a:rect l="l" t="t" r="r" b="b"/>
              <a:pathLst>
                <a:path w="4026708" h="3902523">
                  <a:moveTo>
                    <a:pt x="3902248" y="3902523"/>
                  </a:moveTo>
                  <a:lnTo>
                    <a:pt x="124460" y="3902523"/>
                  </a:lnTo>
                  <a:cubicBezTo>
                    <a:pt x="55880" y="3902523"/>
                    <a:pt x="0" y="3846643"/>
                    <a:pt x="0" y="3778063"/>
                  </a:cubicBezTo>
                  <a:lnTo>
                    <a:pt x="0" y="124460"/>
                  </a:lnTo>
                  <a:cubicBezTo>
                    <a:pt x="0" y="55880"/>
                    <a:pt x="55880" y="0"/>
                    <a:pt x="124460" y="0"/>
                  </a:cubicBezTo>
                  <a:lnTo>
                    <a:pt x="3902248" y="0"/>
                  </a:lnTo>
                  <a:cubicBezTo>
                    <a:pt x="3970828" y="0"/>
                    <a:pt x="4026708" y="55880"/>
                    <a:pt x="4026708" y="124460"/>
                  </a:cubicBezTo>
                  <a:lnTo>
                    <a:pt x="4026708" y="3778064"/>
                  </a:lnTo>
                  <a:cubicBezTo>
                    <a:pt x="4026708" y="3846643"/>
                    <a:pt x="3970828" y="3902523"/>
                    <a:pt x="3902248" y="3902523"/>
                  </a:cubicBezTo>
                  <a:close/>
                </a:path>
              </a:pathLst>
            </a:custGeom>
            <a:solidFill>
              <a:srgbClr val="FFFFFF"/>
            </a:solidFill>
          </p:spPr>
        </p:sp>
      </p:gr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12208" y="7555230"/>
            <a:ext cx="7315200" cy="3178787"/>
          </a:xfrm>
          <a:prstGeom prst="rect">
            <a:avLst/>
          </a:prstGeom>
        </p:spPr>
      </p:pic>
      <p:sp>
        <p:nvSpPr>
          <p:cNvPr id="11" name="TextBox 11"/>
          <p:cNvSpPr txBox="1"/>
          <p:nvPr/>
        </p:nvSpPr>
        <p:spPr>
          <a:xfrm>
            <a:off x="1389936" y="5114925"/>
            <a:ext cx="4310914" cy="611981"/>
          </a:xfrm>
          <a:prstGeom prst="rect">
            <a:avLst/>
          </a:prstGeom>
        </p:spPr>
        <p:txBody>
          <a:bodyPr lIns="0" tIns="0" rIns="0" bIns="0" rtlCol="0" anchor="t">
            <a:spAutoFit/>
          </a:bodyPr>
          <a:lstStyle/>
          <a:p>
            <a:pPr>
              <a:lnSpc>
                <a:spcPts val="2493"/>
              </a:lnSpc>
            </a:pPr>
            <a:r>
              <a:rPr lang="en-US" sz="1781" spc="160">
                <a:solidFill>
                  <a:srgbClr val="414B3B"/>
                </a:solidFill>
                <a:latin typeface="Muli Regular"/>
              </a:rPr>
              <a:t>MENYEDERHANAKAN AKTIVITAS BELAJAR DAN MENGAJAR</a:t>
            </a:r>
          </a:p>
        </p:txBody>
      </p:sp>
      <p:sp>
        <p:nvSpPr>
          <p:cNvPr id="12" name="TextBox 12"/>
          <p:cNvSpPr txBox="1"/>
          <p:nvPr/>
        </p:nvSpPr>
        <p:spPr>
          <a:xfrm>
            <a:off x="1389936" y="6132830"/>
            <a:ext cx="4310914" cy="1934289"/>
          </a:xfrm>
          <a:prstGeom prst="rect">
            <a:avLst/>
          </a:prstGeom>
        </p:spPr>
        <p:txBody>
          <a:bodyPr lIns="0" tIns="0" rIns="0" bIns="0" rtlCol="0" anchor="t">
            <a:spAutoFit/>
          </a:bodyPr>
          <a:lstStyle/>
          <a:p>
            <a:pPr>
              <a:lnSpc>
                <a:spcPts val="2585"/>
              </a:lnSpc>
            </a:pPr>
            <a:r>
              <a:rPr lang="en-US" sz="1846" spc="36">
                <a:solidFill>
                  <a:srgbClr val="414B3B"/>
                </a:solidFill>
                <a:latin typeface="Muli Regular"/>
              </a:rPr>
              <a:t>Google Classroom memungkinkan kegiatan belajar mengajar menjadi lebih produktif dan bermakna dengan menyederhanakan tugas, meningkatkan kolaborasi, dan membina komunikasi. </a:t>
            </a:r>
          </a:p>
        </p:txBody>
      </p:sp>
      <p:sp>
        <p:nvSpPr>
          <p:cNvPr id="13" name="TextBox 13"/>
          <p:cNvSpPr txBox="1"/>
          <p:nvPr/>
        </p:nvSpPr>
        <p:spPr>
          <a:xfrm>
            <a:off x="6988543" y="5095875"/>
            <a:ext cx="4310914" cy="701675"/>
          </a:xfrm>
          <a:prstGeom prst="rect">
            <a:avLst/>
          </a:prstGeom>
        </p:spPr>
        <p:txBody>
          <a:bodyPr lIns="0" tIns="0" rIns="0" bIns="0" rtlCol="0" anchor="t">
            <a:spAutoFit/>
          </a:bodyPr>
          <a:lstStyle/>
          <a:p>
            <a:pPr>
              <a:lnSpc>
                <a:spcPts val="2800"/>
              </a:lnSpc>
            </a:pPr>
            <a:r>
              <a:rPr lang="en-US" sz="2000" spc="180">
                <a:solidFill>
                  <a:srgbClr val="414B3B"/>
                </a:solidFill>
                <a:latin typeface="Muli Regular"/>
              </a:rPr>
              <a:t>BERBAGI DATA LEBIH EFISIEN DAN PRAKTIS</a:t>
            </a:r>
          </a:p>
        </p:txBody>
      </p:sp>
      <p:sp>
        <p:nvSpPr>
          <p:cNvPr id="14" name="TextBox 14"/>
          <p:cNvSpPr txBox="1"/>
          <p:nvPr/>
        </p:nvSpPr>
        <p:spPr>
          <a:xfrm>
            <a:off x="6988543" y="6142355"/>
            <a:ext cx="4310914" cy="2497098"/>
          </a:xfrm>
          <a:prstGeom prst="rect">
            <a:avLst/>
          </a:prstGeom>
        </p:spPr>
        <p:txBody>
          <a:bodyPr lIns="0" tIns="0" rIns="0" bIns="0" rtlCol="0" anchor="t">
            <a:spAutoFit/>
          </a:bodyPr>
          <a:lstStyle/>
          <a:p>
            <a:pPr>
              <a:lnSpc>
                <a:spcPts val="2539"/>
              </a:lnSpc>
            </a:pPr>
            <a:r>
              <a:rPr lang="en-US" sz="1814" spc="36">
                <a:solidFill>
                  <a:srgbClr val="414B3B"/>
                </a:solidFill>
                <a:latin typeface="Muli Regular"/>
              </a:rPr>
              <a:t>Guru tidak perlu repot dalam membagikan tugas melalui email, chat, ataupun grup WhatsApp. Semua tugas dapat dibagikan melalui Google Classroom sehingga manajemen tugas/dokumen lebih tertata dan tidak membingungkan sang guru maupun siswa. </a:t>
            </a:r>
          </a:p>
        </p:txBody>
      </p:sp>
      <p:sp>
        <p:nvSpPr>
          <p:cNvPr id="15" name="TextBox 15"/>
          <p:cNvSpPr txBox="1"/>
          <p:nvPr/>
        </p:nvSpPr>
        <p:spPr>
          <a:xfrm>
            <a:off x="12587151" y="5095875"/>
            <a:ext cx="4310914" cy="701675"/>
          </a:xfrm>
          <a:prstGeom prst="rect">
            <a:avLst/>
          </a:prstGeom>
        </p:spPr>
        <p:txBody>
          <a:bodyPr lIns="0" tIns="0" rIns="0" bIns="0" rtlCol="0" anchor="t">
            <a:spAutoFit/>
          </a:bodyPr>
          <a:lstStyle/>
          <a:p>
            <a:pPr>
              <a:lnSpc>
                <a:spcPts val="2800"/>
              </a:lnSpc>
            </a:pPr>
            <a:r>
              <a:rPr lang="en-US" sz="2000" spc="180">
                <a:solidFill>
                  <a:srgbClr val="414B3B"/>
                </a:solidFill>
                <a:latin typeface="Muli Regular"/>
              </a:rPr>
              <a:t>MEMBUAT KELAS LEBIH CEPAT DAN INSTAN</a:t>
            </a:r>
          </a:p>
        </p:txBody>
      </p:sp>
      <p:sp>
        <p:nvSpPr>
          <p:cNvPr id="16" name="TextBox 16"/>
          <p:cNvSpPr txBox="1"/>
          <p:nvPr/>
        </p:nvSpPr>
        <p:spPr>
          <a:xfrm>
            <a:off x="12587151" y="6123305"/>
            <a:ext cx="4310914" cy="2816225"/>
          </a:xfrm>
          <a:prstGeom prst="rect">
            <a:avLst/>
          </a:prstGeom>
        </p:spPr>
        <p:txBody>
          <a:bodyPr lIns="0" tIns="0" rIns="0" bIns="0" rtlCol="0" anchor="t">
            <a:spAutoFit/>
          </a:bodyPr>
          <a:lstStyle/>
          <a:p>
            <a:pPr>
              <a:lnSpc>
                <a:spcPts val="2800"/>
              </a:lnSpc>
            </a:pPr>
            <a:r>
              <a:rPr lang="en-US" sz="2000" spc="40">
                <a:solidFill>
                  <a:srgbClr val="414B3B"/>
                </a:solidFill>
                <a:latin typeface="Muli Regular"/>
              </a:rPr>
              <a:t>Guru bisa langsung membuat kelas melalui halaman classroom.google.com. Setelah membuat kelas, guru bisa membagikan kode kelas, menambahkan siswa, membuat tugas, membagikan materi, dan lainnya.</a:t>
            </a:r>
          </a:p>
        </p:txBody>
      </p:sp>
      <p:sp>
        <p:nvSpPr>
          <p:cNvPr id="17" name="TextBox 17"/>
          <p:cNvSpPr txBox="1"/>
          <p:nvPr/>
        </p:nvSpPr>
        <p:spPr>
          <a:xfrm>
            <a:off x="1028700" y="1309424"/>
            <a:ext cx="12729892" cy="2133600"/>
          </a:xfrm>
          <a:prstGeom prst="rect">
            <a:avLst/>
          </a:prstGeom>
        </p:spPr>
        <p:txBody>
          <a:bodyPr lIns="0" tIns="0" rIns="0" bIns="0" rtlCol="0" anchor="t">
            <a:spAutoFit/>
          </a:bodyPr>
          <a:lstStyle/>
          <a:p>
            <a:pPr>
              <a:lnSpc>
                <a:spcPts val="8400"/>
              </a:lnSpc>
            </a:pPr>
            <a:r>
              <a:rPr lang="en-US" sz="7000">
                <a:solidFill>
                  <a:srgbClr val="FFF9F3"/>
                </a:solidFill>
                <a:latin typeface="Muli Bold"/>
              </a:rPr>
              <a:t>Kelebihan dari menggunakan </a:t>
            </a:r>
            <a:r>
              <a:rPr lang="en-US" sz="7000">
                <a:solidFill>
                  <a:srgbClr val="F36825"/>
                </a:solidFill>
                <a:latin typeface="Muli Bold"/>
              </a:rPr>
              <a:t>Google Classroom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6117" b="6117"/>
          <a:stretch>
            <a:fillRect/>
          </a:stretch>
        </p:blipFill>
        <p:spPr>
          <a:xfrm>
            <a:off x="0" y="-3665291"/>
            <a:ext cx="18493219" cy="6041390"/>
          </a:xfrm>
          <a:prstGeom prst="rect">
            <a:avLst/>
          </a:prstGeom>
        </p:spPr>
      </p:pic>
      <p:sp>
        <p:nvSpPr>
          <p:cNvPr id="3" name="TextBox 3"/>
          <p:cNvSpPr txBox="1"/>
          <p:nvPr/>
        </p:nvSpPr>
        <p:spPr>
          <a:xfrm>
            <a:off x="6291041" y="4495800"/>
            <a:ext cx="5942704" cy="1295400"/>
          </a:xfrm>
          <a:prstGeom prst="rect">
            <a:avLst/>
          </a:prstGeom>
        </p:spPr>
        <p:txBody>
          <a:bodyPr lIns="0" tIns="0" rIns="0" bIns="0" rtlCol="0" anchor="t">
            <a:spAutoFit/>
          </a:bodyPr>
          <a:lstStyle/>
          <a:p>
            <a:pPr>
              <a:lnSpc>
                <a:spcPts val="10200"/>
              </a:lnSpc>
            </a:pPr>
            <a:r>
              <a:rPr lang="en-US" sz="8500">
                <a:solidFill>
                  <a:srgbClr val="FFF9F3"/>
                </a:solidFill>
                <a:latin typeface="Muli Bold"/>
              </a:rPr>
              <a:t>SESI DEMO</a:t>
            </a:r>
          </a:p>
        </p:txBody>
      </p:sp>
      <p:pic>
        <p:nvPicPr>
          <p:cNvPr id="4" name="Picture 4"/>
          <p:cNvPicPr>
            <a:picLocks noChangeAspect="1"/>
          </p:cNvPicPr>
          <p:nvPr/>
        </p:nvPicPr>
        <p:blipFill>
          <a:blip r:embed="rId2"/>
          <a:srcRect t="6117" b="6117"/>
          <a:stretch>
            <a:fillRect/>
          </a:stretch>
        </p:blipFill>
        <p:spPr>
          <a:xfrm>
            <a:off x="-102610" y="8548663"/>
            <a:ext cx="18493219" cy="60413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14B3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5538884" y="872784"/>
            <a:ext cx="7210232" cy="7303181"/>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0534595" y="663390"/>
            <a:ext cx="3605116" cy="3552678"/>
          </a:xfrm>
          <a:prstGeom prst="rect">
            <a:avLst/>
          </a:prstGeom>
        </p:spPr>
      </p:pic>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4031016" y="5762772"/>
            <a:ext cx="3605116" cy="3552678"/>
          </a:xfrm>
          <a:prstGeom prst="rect">
            <a:avLst/>
          </a:prstGeom>
        </p:spPr>
      </p:pic>
      <p:grpSp>
        <p:nvGrpSpPr>
          <p:cNvPr id="5" name="Group 5"/>
          <p:cNvGrpSpPr/>
          <p:nvPr/>
        </p:nvGrpSpPr>
        <p:grpSpPr>
          <a:xfrm>
            <a:off x="3063954" y="2122975"/>
            <a:ext cx="12160093" cy="6041050"/>
            <a:chOff x="0" y="0"/>
            <a:chExt cx="9728074" cy="4832840"/>
          </a:xfrm>
        </p:grpSpPr>
        <p:sp>
          <p:nvSpPr>
            <p:cNvPr id="6" name="Freeform 6"/>
            <p:cNvSpPr/>
            <p:nvPr/>
          </p:nvSpPr>
          <p:spPr>
            <a:xfrm>
              <a:off x="0" y="0"/>
              <a:ext cx="9728074" cy="4832840"/>
            </a:xfrm>
            <a:custGeom>
              <a:avLst/>
              <a:gdLst/>
              <a:ahLst/>
              <a:cxnLst/>
              <a:rect l="l" t="t" r="r" b="b"/>
              <a:pathLst>
                <a:path w="9728074" h="4832840">
                  <a:moveTo>
                    <a:pt x="9603614" y="4832840"/>
                  </a:moveTo>
                  <a:lnTo>
                    <a:pt x="124460" y="4832840"/>
                  </a:lnTo>
                  <a:cubicBezTo>
                    <a:pt x="55880" y="4832840"/>
                    <a:pt x="0" y="4776960"/>
                    <a:pt x="0" y="4708380"/>
                  </a:cubicBezTo>
                  <a:lnTo>
                    <a:pt x="0" y="124460"/>
                  </a:lnTo>
                  <a:cubicBezTo>
                    <a:pt x="0" y="55880"/>
                    <a:pt x="55880" y="0"/>
                    <a:pt x="124460" y="0"/>
                  </a:cubicBezTo>
                  <a:lnTo>
                    <a:pt x="9603614" y="0"/>
                  </a:lnTo>
                  <a:cubicBezTo>
                    <a:pt x="9672194" y="0"/>
                    <a:pt x="9728074" y="55880"/>
                    <a:pt x="9728074" y="124460"/>
                  </a:cubicBezTo>
                  <a:lnTo>
                    <a:pt x="9728074" y="4708380"/>
                  </a:lnTo>
                  <a:cubicBezTo>
                    <a:pt x="9728074" y="4776960"/>
                    <a:pt x="9672194" y="4832840"/>
                    <a:pt x="9603614" y="4832840"/>
                  </a:cubicBezTo>
                  <a:close/>
                </a:path>
              </a:pathLst>
            </a:custGeom>
            <a:solidFill>
              <a:srgbClr val="FFF9F3"/>
            </a:solidFill>
          </p:spPr>
        </p:sp>
      </p:grpSp>
      <p:sp>
        <p:nvSpPr>
          <p:cNvPr id="7" name="TextBox 7"/>
          <p:cNvSpPr txBox="1"/>
          <p:nvPr/>
        </p:nvSpPr>
        <p:spPr>
          <a:xfrm>
            <a:off x="6848502" y="4748015"/>
            <a:ext cx="4590995" cy="803361"/>
          </a:xfrm>
          <a:prstGeom prst="rect">
            <a:avLst/>
          </a:prstGeom>
        </p:spPr>
        <p:txBody>
          <a:bodyPr wrap="square" lIns="0" tIns="0" rIns="0" bIns="0" rtlCol="0" anchor="t">
            <a:spAutoFit/>
          </a:bodyPr>
          <a:lstStyle/>
          <a:p>
            <a:pPr>
              <a:lnSpc>
                <a:spcPts val="6599"/>
              </a:lnSpc>
            </a:pPr>
            <a:r>
              <a:rPr lang="en-US" sz="5499" dirty="0" err="1">
                <a:solidFill>
                  <a:srgbClr val="F36825"/>
                </a:solidFill>
                <a:latin typeface="Muli Bold Bold"/>
              </a:rPr>
              <a:t>Terima</a:t>
            </a:r>
            <a:r>
              <a:rPr lang="en-US" sz="5499" dirty="0">
                <a:solidFill>
                  <a:srgbClr val="F36825"/>
                </a:solidFill>
                <a:latin typeface="Muli Bold Bold"/>
              </a:rPr>
              <a:t>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324</Words>
  <Application>Microsoft Office PowerPoint</Application>
  <PresentationFormat>Custom</PresentationFormat>
  <Paragraphs>39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Arial</vt:lpstr>
      <vt:lpstr>Muli Bold Bold</vt:lpstr>
      <vt:lpstr>Muli Regular</vt:lpstr>
      <vt:lpstr>Muli Regular Bold</vt:lpstr>
      <vt:lpstr>Muli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Classroom</dc:title>
  <cp:lastModifiedBy>ASUS</cp:lastModifiedBy>
  <cp:revision>6</cp:revision>
  <dcterms:created xsi:type="dcterms:W3CDTF">2006-08-16T00:00:00Z</dcterms:created>
  <dcterms:modified xsi:type="dcterms:W3CDTF">2021-07-27T12:15:14Z</dcterms:modified>
  <dc:identifier>DAElMUsDIeY</dc:identifier>
</cp:coreProperties>
</file>